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1371600" y="1371600"/>
            <a:ext cx="9418320" cy="1371600"/>
          </a:xfrm>
          <a:prstGeom prst="rect">
            <a:avLst/>
          </a:prstGeom>
          <a:noFill/>
        </p:spPr>
        <p:txBody>
          <a:bodyPr wrap="square">
            <a:spAutoFit/>
          </a:bodyPr>
          <a:lstStyle/>
          <a:p>
            <a:pPr algn="ctr">
              <a:lnSpc>
                <a:spcPts val="5720"/>
              </a:lnSpc>
              <a:spcAft>
                <a:spcPts val="400"/>
              </a:spcAft>
            </a:pPr>
            <a:r>
              <a:rPr sz="4400" b="1" i="0">
                <a:solidFill>
                  <a:srgbClr val="FFFFFF"/>
                </a:solidFill>
                <a:latin typeface="Calibri"/>
              </a:rPr>
              <a:t>Synthetic Pine &amp; Heavy Air</a:t>
            </a:r>
          </a:p>
        </p:txBody>
      </p:sp>
      <p:sp>
        <p:nvSpPr>
          <p:cNvPr id="3" name="Rectangle 2"/>
          <p:cNvSpPr/>
          <p:nvPr/>
        </p:nvSpPr>
        <p:spPr>
          <a:xfrm>
            <a:off x="4114800" y="2926080"/>
            <a:ext cx="3931920" cy="2540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3200400"/>
            <a:ext cx="9418320" cy="914400"/>
          </a:xfrm>
          <a:prstGeom prst="rect">
            <a:avLst/>
          </a:prstGeom>
          <a:noFill/>
        </p:spPr>
        <p:txBody>
          <a:bodyPr wrap="square">
            <a:spAutoFit/>
          </a:bodyPr>
          <a:lstStyle/>
          <a:p>
            <a:pPr algn="ctr">
              <a:lnSpc>
                <a:spcPts val="3120"/>
              </a:lnSpc>
              <a:spcAft>
                <a:spcPts val="400"/>
              </a:spcAft>
            </a:pPr>
            <a:r>
              <a:rPr sz="2400" b="0" i="1">
                <a:solidFill>
                  <a:srgbClr val="4A90D9"/>
                </a:solidFill>
                <a:latin typeface="Calibri"/>
              </a:rPr>
              <a:t>Can AI Copy the Soul of a Song?</a:t>
            </a:r>
          </a:p>
        </p:txBody>
      </p:sp>
      <p:sp>
        <p:nvSpPr>
          <p:cNvPr id="5" name="TextBox 4"/>
          <p:cNvSpPr txBox="1"/>
          <p:nvPr/>
        </p:nvSpPr>
        <p:spPr>
          <a:xfrm>
            <a:off x="1371600" y="4389120"/>
            <a:ext cx="9418320" cy="457200"/>
          </a:xfrm>
          <a:prstGeom prst="rect">
            <a:avLst/>
          </a:prstGeom>
          <a:noFill/>
        </p:spPr>
        <p:txBody>
          <a:bodyPr wrap="square">
            <a:spAutoFit/>
          </a:bodyPr>
          <a:lstStyle/>
          <a:p>
            <a:pPr algn="ctr">
              <a:lnSpc>
                <a:spcPts val="2080"/>
              </a:lnSpc>
              <a:spcAft>
                <a:spcPts val="400"/>
              </a:spcAft>
            </a:pPr>
            <a:r>
              <a:rPr sz="1600" b="0" i="0">
                <a:solidFill>
                  <a:srgbClr val="666666"/>
                </a:solidFill>
                <a:latin typeface="Calibri"/>
              </a:rPr>
              <a:t>Testing Google Gemini’s Music Generation Against a Childhood Classic</a:t>
            </a:r>
          </a:p>
        </p:txBody>
      </p:sp>
      <p:sp>
        <p:nvSpPr>
          <p:cNvPr id="6" name="TextBox 5"/>
          <p:cNvSpPr txBox="1"/>
          <p:nvPr/>
        </p:nvSpPr>
        <p:spPr>
          <a:xfrm>
            <a:off x="1371600" y="5486400"/>
            <a:ext cx="9418320" cy="731520"/>
          </a:xfrm>
          <a:prstGeom prst="rect">
            <a:avLst/>
          </a:prstGeom>
          <a:noFill/>
        </p:spPr>
        <p:txBody>
          <a:bodyPr wrap="square">
            <a:spAutoFit/>
          </a:bodyPr>
          <a:lstStyle/>
          <a:p>
            <a:pPr algn="ctr">
              <a:lnSpc>
                <a:spcPts val="1820"/>
              </a:lnSpc>
              <a:spcAft>
                <a:spcPts val="400"/>
              </a:spcAft>
            </a:pPr>
            <a:r>
              <a:rPr sz="1400" b="0" i="0">
                <a:solidFill>
                  <a:srgbClr val="666666"/>
                </a:solidFill>
                <a:latin typeface="Calibri"/>
              </a:rPr>
              <a:t>Elias Schwegler  |  PHKI FS26  |  HSLU  |  April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457200" y="365760"/>
            <a:ext cx="914400" cy="457200"/>
          </a:xfrm>
          <a:prstGeom prst="rect">
            <a:avLst/>
          </a:prstGeom>
          <a:noFill/>
        </p:spPr>
        <p:txBody>
          <a:bodyPr wrap="square">
            <a:spAutoFit/>
          </a:bodyPr>
          <a:lstStyle/>
          <a:p>
            <a:pPr algn="l">
              <a:lnSpc>
                <a:spcPts val="1560"/>
              </a:lnSpc>
              <a:spcAft>
                <a:spcPts val="400"/>
              </a:spcAft>
            </a:pPr>
            <a:r>
              <a:rPr sz="1200" b="1" i="0">
                <a:solidFill>
                  <a:srgbClr val="4A90D9"/>
                </a:solidFill>
                <a:latin typeface="Calibri"/>
              </a:rPr>
              <a:t>01</a:t>
            </a:r>
          </a:p>
        </p:txBody>
      </p:sp>
      <p:sp>
        <p:nvSpPr>
          <p:cNvPr id="3" name="TextBox 2"/>
          <p:cNvSpPr txBox="1"/>
          <p:nvPr/>
        </p:nvSpPr>
        <p:spPr>
          <a:xfrm>
            <a:off x="731520" y="731520"/>
            <a:ext cx="10698480" cy="731520"/>
          </a:xfrm>
          <a:prstGeom prst="rect">
            <a:avLst/>
          </a:prstGeom>
          <a:noFill/>
        </p:spPr>
        <p:txBody>
          <a:bodyPr wrap="square">
            <a:spAutoFit/>
          </a:bodyPr>
          <a:lstStyle/>
          <a:p>
            <a:pPr algn="l">
              <a:lnSpc>
                <a:spcPts val="4680"/>
              </a:lnSpc>
              <a:spcAft>
                <a:spcPts val="400"/>
              </a:spcAft>
            </a:pPr>
            <a:r>
              <a:rPr sz="3600" b="1" i="0">
                <a:solidFill>
                  <a:srgbClr val="FFFFFF"/>
                </a:solidFill>
                <a:latin typeface="Calibri"/>
              </a:rPr>
              <a:t>The Experiment</a:t>
            </a:r>
          </a:p>
        </p:txBody>
      </p:sp>
      <p:sp>
        <p:nvSpPr>
          <p:cNvPr id="4" name="Rectangle 3"/>
          <p:cNvSpPr/>
          <p:nvPr/>
        </p:nvSpPr>
        <p:spPr>
          <a:xfrm>
            <a:off x="731520" y="1554480"/>
            <a:ext cx="2743200" cy="2540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0"/>
            <a:ext cx="5029200" cy="1371600"/>
          </a:xfrm>
          <a:prstGeom prst="rect">
            <a:avLst/>
          </a:prstGeom>
          <a:noFill/>
        </p:spPr>
        <p:txBody>
          <a:bodyPr wrap="square">
            <a:spAutoFit/>
          </a:bodyPr>
          <a:lstStyle/>
          <a:p>
            <a:pPr algn="l">
              <a:lnSpc>
                <a:spcPts val="2379"/>
              </a:lnSpc>
              <a:spcAft>
                <a:spcPts val="400"/>
              </a:spcAft>
            </a:pPr>
            <a:r>
              <a:rPr sz="1700" b="0" i="0">
                <a:solidFill>
                  <a:srgbClr val="F2F2F2"/>
                </a:solidFill>
                <a:latin typeface="Calibri"/>
              </a:rPr>
              <a:t>“Let Her Go” by Passenger  - a song that defined a generation. Nearly 5 billion YouTube views. A melody burned into collective memory.</a:t>
            </a:r>
          </a:p>
        </p:txBody>
      </p:sp>
      <p:sp>
        <p:nvSpPr>
          <p:cNvPr id="6" name="TextBox 5"/>
          <p:cNvSpPr txBox="1"/>
          <p:nvPr/>
        </p:nvSpPr>
        <p:spPr>
          <a:xfrm>
            <a:off x="731520" y="3474720"/>
            <a:ext cx="10698480" cy="548640"/>
          </a:xfrm>
          <a:prstGeom prst="rect">
            <a:avLst/>
          </a:prstGeom>
          <a:noFill/>
        </p:spPr>
        <p:txBody>
          <a:bodyPr wrap="square">
            <a:spAutoFit/>
          </a:bodyPr>
          <a:lstStyle/>
          <a:p>
            <a:pPr algn="l">
              <a:lnSpc>
                <a:spcPts val="2600"/>
              </a:lnSpc>
              <a:spcAft>
                <a:spcPts val="400"/>
              </a:spcAft>
            </a:pPr>
            <a:r>
              <a:rPr sz="2000" b="1" i="0">
                <a:solidFill>
                  <a:srgbClr val="4A90D9"/>
                </a:solidFill>
                <a:latin typeface="Calibri"/>
              </a:rPr>
              <a:t>The Question:</a:t>
            </a:r>
          </a:p>
        </p:txBody>
      </p:sp>
      <p:sp>
        <p:nvSpPr>
          <p:cNvPr id="7" name="TextBox 6"/>
          <p:cNvSpPr txBox="1"/>
          <p:nvPr/>
        </p:nvSpPr>
        <p:spPr>
          <a:xfrm>
            <a:off x="731520" y="4023360"/>
            <a:ext cx="10698480" cy="914400"/>
          </a:xfrm>
          <a:prstGeom prst="rect">
            <a:avLst/>
          </a:prstGeom>
          <a:noFill/>
        </p:spPr>
        <p:txBody>
          <a:bodyPr wrap="square">
            <a:spAutoFit/>
          </a:bodyPr>
          <a:lstStyle/>
          <a:p>
            <a:pPr algn="l">
              <a:lnSpc>
                <a:spcPts val="3079"/>
              </a:lnSpc>
              <a:spcAft>
                <a:spcPts val="400"/>
              </a:spcAft>
            </a:pPr>
            <a:r>
              <a:rPr sz="2200" b="0" i="1">
                <a:solidFill>
                  <a:srgbClr val="FFFFFF"/>
                </a:solidFill>
                <a:latin typeface="Calibri"/>
              </a:rPr>
              <a:t>Can Google Gemini replicate the emotional signature of a chart-topping song?
And what does it mean if it can?</a:t>
            </a:r>
          </a:p>
        </p:txBody>
      </p:sp>
      <p:sp>
        <p:nvSpPr>
          <p:cNvPr id="8" name="TextBox 7"/>
          <p:cNvSpPr txBox="1"/>
          <p:nvPr/>
        </p:nvSpPr>
        <p:spPr>
          <a:xfrm>
            <a:off x="731520" y="5303520"/>
            <a:ext cx="10698480" cy="914400"/>
          </a:xfrm>
          <a:prstGeom prst="rect">
            <a:avLst/>
          </a:prstGeom>
          <a:noFill/>
        </p:spPr>
        <p:txBody>
          <a:bodyPr wrap="square">
            <a:spAutoFit/>
          </a:bodyPr>
          <a:lstStyle/>
          <a:p>
            <a:pPr algn="l">
              <a:lnSpc>
                <a:spcPts val="2240"/>
              </a:lnSpc>
              <a:spcAft>
                <a:spcPts val="400"/>
              </a:spcAft>
            </a:pPr>
            <a:r>
              <a:rPr sz="1600" b="0" i="0">
                <a:solidFill>
                  <a:srgbClr val="666666"/>
                </a:solidFill>
                <a:latin typeface="Calibri"/>
              </a:rPr>
              <a:t>I designed a two-part stress test to find out  - pushing Gemini’s capabilities and copyright guardrails to their limits.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457200" y="365760"/>
            <a:ext cx="914400" cy="457200"/>
          </a:xfrm>
          <a:prstGeom prst="rect">
            <a:avLst/>
          </a:prstGeom>
          <a:noFill/>
        </p:spPr>
        <p:txBody>
          <a:bodyPr wrap="square">
            <a:spAutoFit/>
          </a:bodyPr>
          <a:lstStyle/>
          <a:p>
            <a:pPr algn="l">
              <a:lnSpc>
                <a:spcPts val="1560"/>
              </a:lnSpc>
              <a:spcAft>
                <a:spcPts val="400"/>
              </a:spcAft>
            </a:pPr>
            <a:r>
              <a:rPr sz="1200" b="1" i="0">
                <a:solidFill>
                  <a:srgbClr val="4A90D9"/>
                </a:solidFill>
                <a:latin typeface="Calibri"/>
              </a:rPr>
              <a:t>02</a:t>
            </a:r>
          </a:p>
        </p:txBody>
      </p:sp>
      <p:sp>
        <p:nvSpPr>
          <p:cNvPr id="3" name="TextBox 2"/>
          <p:cNvSpPr txBox="1"/>
          <p:nvPr/>
        </p:nvSpPr>
        <p:spPr>
          <a:xfrm>
            <a:off x="731520" y="731520"/>
            <a:ext cx="10698480" cy="731520"/>
          </a:xfrm>
          <a:prstGeom prst="rect">
            <a:avLst/>
          </a:prstGeom>
          <a:noFill/>
        </p:spPr>
        <p:txBody>
          <a:bodyPr wrap="square">
            <a:spAutoFit/>
          </a:bodyPr>
          <a:lstStyle/>
          <a:p>
            <a:pPr algn="l">
              <a:lnSpc>
                <a:spcPts val="4160"/>
              </a:lnSpc>
              <a:spcAft>
                <a:spcPts val="400"/>
              </a:spcAft>
            </a:pPr>
            <a:r>
              <a:rPr sz="3200" b="1" i="0">
                <a:solidFill>
                  <a:srgbClr val="FFFFFF"/>
                </a:solidFill>
                <a:latin typeface="Calibri"/>
              </a:rPr>
              <a:t>Test 1: Same Melody, Different Text</a:t>
            </a:r>
          </a:p>
        </p:txBody>
      </p:sp>
      <p:sp>
        <p:nvSpPr>
          <p:cNvPr id="4" name="Rectangle 3"/>
          <p:cNvSpPr/>
          <p:nvPr/>
        </p:nvSpPr>
        <p:spPr>
          <a:xfrm>
            <a:off x="731520" y="1554480"/>
            <a:ext cx="2743200" cy="2540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0"/>
            <a:ext cx="5029200" cy="457200"/>
          </a:xfrm>
          <a:prstGeom prst="rect">
            <a:avLst/>
          </a:prstGeom>
          <a:noFill/>
        </p:spPr>
        <p:txBody>
          <a:bodyPr wrap="square">
            <a:spAutoFit/>
          </a:bodyPr>
          <a:lstStyle/>
          <a:p>
            <a:pPr algn="l">
              <a:lnSpc>
                <a:spcPts val="1690"/>
              </a:lnSpc>
              <a:spcAft>
                <a:spcPts val="400"/>
              </a:spcAft>
            </a:pPr>
            <a:r>
              <a:rPr sz="1300" b="1" i="0">
                <a:solidFill>
                  <a:srgbClr val="4A90D9"/>
                </a:solidFill>
                <a:latin typeface="Calibri"/>
              </a:rPr>
              <a:t>MY PROMPT</a:t>
            </a:r>
          </a:p>
        </p:txBody>
      </p:sp>
      <p:sp>
        <p:nvSpPr>
          <p:cNvPr id="6" name="TextBox 5"/>
          <p:cNvSpPr txBox="1"/>
          <p:nvPr/>
        </p:nvSpPr>
        <p:spPr>
          <a:xfrm>
            <a:off x="731520" y="2286000"/>
            <a:ext cx="5029200" cy="1828800"/>
          </a:xfrm>
          <a:prstGeom prst="rect">
            <a:avLst/>
          </a:prstGeom>
          <a:noFill/>
        </p:spPr>
        <p:txBody>
          <a:bodyPr wrap="square">
            <a:spAutoFit/>
          </a:bodyPr>
          <a:lstStyle/>
          <a:p>
            <a:pPr algn="l">
              <a:lnSpc>
                <a:spcPts val="2240"/>
              </a:lnSpc>
              <a:spcAft>
                <a:spcPts val="400"/>
              </a:spcAft>
            </a:pPr>
            <a:r>
              <a:rPr sz="1600" b="0" i="1">
                <a:solidFill>
                  <a:srgbClr val="F2F2F2"/>
                </a:solidFill>
                <a:latin typeface="Calibri"/>
              </a:rPr>
              <a:t>“Create a similar song to Let Her Go. Same melody, different text. Melancholic, but about a car, its tires, and the smell of a synthetic pine air freshener hanging from the rearview mirror.”</a:t>
            </a:r>
          </a:p>
        </p:txBody>
      </p:sp>
      <p:pic>
        <p:nvPicPr>
          <p:cNvPr id="7" name="Picture 6" descr="Chat_1_01.png"/>
          <p:cNvPicPr>
            <a:picLocks noChangeAspect="1"/>
          </p:cNvPicPr>
          <p:nvPr/>
        </p:nvPicPr>
        <p:blipFill>
          <a:blip r:embed="rId2"/>
          <a:stretch>
            <a:fillRect/>
          </a:stretch>
        </p:blipFill>
        <p:spPr>
          <a:xfrm>
            <a:off x="6858000" y="1737360"/>
            <a:ext cx="3025833" cy="4754880"/>
          </a:xfrm>
          <a:prstGeom prst="rect">
            <a:avLst/>
          </a:prstGeom>
        </p:spPr>
      </p:pic>
      <p:sp>
        <p:nvSpPr>
          <p:cNvPr id="8" name="TextBox 7"/>
          <p:cNvSpPr txBox="1"/>
          <p:nvPr/>
        </p:nvSpPr>
        <p:spPr>
          <a:xfrm>
            <a:off x="731520" y="4389120"/>
            <a:ext cx="5669280" cy="457200"/>
          </a:xfrm>
          <a:prstGeom prst="rect">
            <a:avLst/>
          </a:prstGeom>
          <a:noFill/>
        </p:spPr>
        <p:txBody>
          <a:bodyPr wrap="square">
            <a:spAutoFit/>
          </a:bodyPr>
          <a:lstStyle/>
          <a:p>
            <a:pPr algn="l">
              <a:lnSpc>
                <a:spcPts val="2860"/>
              </a:lnSpc>
              <a:spcAft>
                <a:spcPts val="400"/>
              </a:spcAft>
            </a:pPr>
            <a:r>
              <a:rPr sz="2200" b="1" i="0">
                <a:solidFill>
                  <a:srgbClr val="FFFFFF"/>
                </a:solidFill>
                <a:latin typeface="Calibri"/>
              </a:rPr>
              <a:t>“Synthetic Pine &amp; Heavy Air”</a:t>
            </a:r>
          </a:p>
        </p:txBody>
      </p:sp>
      <p:sp>
        <p:nvSpPr>
          <p:cNvPr id="9" name="TextBox 8"/>
          <p:cNvSpPr txBox="1"/>
          <p:nvPr/>
        </p:nvSpPr>
        <p:spPr>
          <a:xfrm>
            <a:off x="731520" y="5029200"/>
            <a:ext cx="5669280" cy="1371600"/>
          </a:xfrm>
          <a:prstGeom prst="rect">
            <a:avLst/>
          </a:prstGeom>
          <a:noFill/>
        </p:spPr>
        <p:txBody>
          <a:bodyPr wrap="square">
            <a:spAutoFit/>
          </a:bodyPr>
          <a:lstStyle/>
          <a:p>
            <a:pPr>
              <a:lnSpc>
                <a:spcPts val="1820"/>
              </a:lnSpc>
              <a:spcAft>
                <a:spcPts val="800"/>
              </a:spcAft>
            </a:pPr>
            <a:r>
              <a:rPr sz="1300">
                <a:solidFill>
                  <a:srgbClr val="F2F2F2"/>
                </a:solidFill>
                <a:latin typeface="Calibri"/>
              </a:rPr>
              <a:t>•  Bedroom Pop  |  80 BPM  |  Electric piano</a:t>
            </a:r>
          </a:p>
          <a:p>
            <a:pPr>
              <a:lnSpc>
                <a:spcPts val="1820"/>
              </a:lnSpc>
              <a:spcAft>
                <a:spcPts val="800"/>
              </a:spcAft>
            </a:pPr>
            <a:r>
              <a:rPr sz="1300">
                <a:solidFill>
                  <a:srgbClr val="F2F2F2"/>
                </a:solidFill>
                <a:latin typeface="Calibri"/>
              </a:rPr>
              <a:t>•  Breathy vocals  |  Guitar with vibrato</a:t>
            </a:r>
          </a:p>
          <a:p>
            <a:pPr>
              <a:lnSpc>
                <a:spcPts val="1820"/>
              </a:lnSpc>
              <a:spcAft>
                <a:spcPts val="800"/>
              </a:spcAft>
            </a:pPr>
            <a:r>
              <a:rPr sz="1300">
                <a:solidFill>
                  <a:srgbClr val="F2F2F2"/>
                </a:solidFill>
                <a:latin typeface="Calibri"/>
              </a:rPr>
              <a:t>•  Sparse intro → cinematic climax</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457200" y="365760"/>
            <a:ext cx="914400" cy="457200"/>
          </a:xfrm>
          <a:prstGeom prst="rect">
            <a:avLst/>
          </a:prstGeom>
          <a:noFill/>
        </p:spPr>
        <p:txBody>
          <a:bodyPr wrap="square">
            <a:spAutoFit/>
          </a:bodyPr>
          <a:lstStyle/>
          <a:p>
            <a:pPr algn="l">
              <a:lnSpc>
                <a:spcPts val="1560"/>
              </a:lnSpc>
              <a:spcAft>
                <a:spcPts val="400"/>
              </a:spcAft>
            </a:pPr>
            <a:r>
              <a:rPr sz="1200" b="1" i="0">
                <a:solidFill>
                  <a:srgbClr val="4A90D9"/>
                </a:solidFill>
                <a:latin typeface="Calibri"/>
              </a:rPr>
              <a:t>03</a:t>
            </a:r>
          </a:p>
        </p:txBody>
      </p:sp>
      <p:sp>
        <p:nvSpPr>
          <p:cNvPr id="3" name="TextBox 2"/>
          <p:cNvSpPr txBox="1"/>
          <p:nvPr/>
        </p:nvSpPr>
        <p:spPr>
          <a:xfrm>
            <a:off x="731520" y="731520"/>
            <a:ext cx="10698480" cy="731520"/>
          </a:xfrm>
          <a:prstGeom prst="rect">
            <a:avLst/>
          </a:prstGeom>
          <a:noFill/>
        </p:spPr>
        <p:txBody>
          <a:bodyPr wrap="square">
            <a:spAutoFit/>
          </a:bodyPr>
          <a:lstStyle/>
          <a:p>
            <a:pPr algn="l">
              <a:lnSpc>
                <a:spcPts val="4160"/>
              </a:lnSpc>
              <a:spcAft>
                <a:spcPts val="400"/>
              </a:spcAft>
            </a:pPr>
            <a:r>
              <a:rPr sz="3200" b="1" i="0">
                <a:solidFill>
                  <a:srgbClr val="FFFFFF"/>
                </a:solidFill>
                <a:latin typeface="Calibri"/>
              </a:rPr>
              <a:t>Test 2: New Melody, Same Lyrics</a:t>
            </a:r>
          </a:p>
        </p:txBody>
      </p:sp>
      <p:sp>
        <p:nvSpPr>
          <p:cNvPr id="4" name="Rectangle 3"/>
          <p:cNvSpPr/>
          <p:nvPr/>
        </p:nvSpPr>
        <p:spPr>
          <a:xfrm>
            <a:off x="731520" y="1554480"/>
            <a:ext cx="2743200" cy="2540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0"/>
            <a:ext cx="5029200" cy="457200"/>
          </a:xfrm>
          <a:prstGeom prst="rect">
            <a:avLst/>
          </a:prstGeom>
          <a:noFill/>
        </p:spPr>
        <p:txBody>
          <a:bodyPr wrap="square">
            <a:spAutoFit/>
          </a:bodyPr>
          <a:lstStyle/>
          <a:p>
            <a:pPr algn="l">
              <a:lnSpc>
                <a:spcPts val="1690"/>
              </a:lnSpc>
              <a:spcAft>
                <a:spcPts val="400"/>
              </a:spcAft>
            </a:pPr>
            <a:r>
              <a:rPr sz="1300" b="1" i="0">
                <a:solidFill>
                  <a:srgbClr val="4A90D9"/>
                </a:solidFill>
                <a:latin typeface="Calibri"/>
              </a:rPr>
              <a:t>MY PROMPT</a:t>
            </a:r>
          </a:p>
        </p:txBody>
      </p:sp>
      <p:sp>
        <p:nvSpPr>
          <p:cNvPr id="6" name="TextBox 5"/>
          <p:cNvSpPr txBox="1"/>
          <p:nvPr/>
        </p:nvSpPr>
        <p:spPr>
          <a:xfrm>
            <a:off x="731520" y="2286000"/>
            <a:ext cx="5029200" cy="1371600"/>
          </a:xfrm>
          <a:prstGeom prst="rect">
            <a:avLst/>
          </a:prstGeom>
          <a:noFill/>
        </p:spPr>
        <p:txBody>
          <a:bodyPr wrap="square">
            <a:spAutoFit/>
          </a:bodyPr>
          <a:lstStyle/>
          <a:p>
            <a:pPr algn="l">
              <a:lnSpc>
                <a:spcPts val="2240"/>
              </a:lnSpc>
              <a:spcAft>
                <a:spcPts val="400"/>
              </a:spcAft>
            </a:pPr>
            <a:r>
              <a:rPr sz="1600" b="0" i="1">
                <a:solidFill>
                  <a:srgbClr val="F2F2F2"/>
                </a:solidFill>
                <a:latin typeface="Calibri"/>
              </a:rPr>
              <a:t>“Then can you do a new melody for the Let Her Go lyrics?”</a:t>
            </a:r>
          </a:p>
        </p:txBody>
      </p:sp>
      <p:pic>
        <p:nvPicPr>
          <p:cNvPr id="7" name="Picture 6" descr="Chat_1_03_follow_up.png"/>
          <p:cNvPicPr>
            <a:picLocks noChangeAspect="1"/>
          </p:cNvPicPr>
          <p:nvPr/>
        </p:nvPicPr>
        <p:blipFill>
          <a:blip r:embed="rId2"/>
          <a:stretch>
            <a:fillRect/>
          </a:stretch>
        </p:blipFill>
        <p:spPr>
          <a:xfrm>
            <a:off x="6858000" y="1737360"/>
            <a:ext cx="4128670" cy="4754880"/>
          </a:xfrm>
          <a:prstGeom prst="rect">
            <a:avLst/>
          </a:prstGeom>
        </p:spPr>
      </p:pic>
      <p:sp>
        <p:nvSpPr>
          <p:cNvPr id="8" name="TextBox 7"/>
          <p:cNvSpPr txBox="1"/>
          <p:nvPr/>
        </p:nvSpPr>
        <p:spPr>
          <a:xfrm>
            <a:off x="731520" y="4389120"/>
            <a:ext cx="5669280" cy="457200"/>
          </a:xfrm>
          <a:prstGeom prst="rect">
            <a:avLst/>
          </a:prstGeom>
          <a:noFill/>
        </p:spPr>
        <p:txBody>
          <a:bodyPr wrap="square">
            <a:spAutoFit/>
          </a:bodyPr>
          <a:lstStyle/>
          <a:p>
            <a:pPr algn="l">
              <a:lnSpc>
                <a:spcPts val="2860"/>
              </a:lnSpc>
              <a:spcAft>
                <a:spcPts val="400"/>
              </a:spcAft>
            </a:pPr>
            <a:r>
              <a:rPr sz="2200" b="1" i="0">
                <a:solidFill>
                  <a:srgbClr val="FFFFFF"/>
                </a:solidFill>
                <a:latin typeface="Calibri"/>
              </a:rPr>
              <a:t>“The Physics of the Thing”</a:t>
            </a:r>
          </a:p>
        </p:txBody>
      </p:sp>
      <p:sp>
        <p:nvSpPr>
          <p:cNvPr id="9" name="TextBox 8"/>
          <p:cNvSpPr txBox="1"/>
          <p:nvPr/>
        </p:nvSpPr>
        <p:spPr>
          <a:xfrm>
            <a:off x="731520" y="5029200"/>
            <a:ext cx="5669280" cy="1371600"/>
          </a:xfrm>
          <a:prstGeom prst="rect">
            <a:avLst/>
          </a:prstGeom>
          <a:noFill/>
        </p:spPr>
        <p:txBody>
          <a:bodyPr wrap="square">
            <a:spAutoFit/>
          </a:bodyPr>
          <a:lstStyle/>
          <a:p>
            <a:pPr>
              <a:lnSpc>
                <a:spcPts val="1820"/>
              </a:lnSpc>
              <a:spcAft>
                <a:spcPts val="800"/>
              </a:spcAft>
            </a:pPr>
            <a:r>
              <a:rPr sz="1300">
                <a:solidFill>
                  <a:srgbClr val="F2F2F2"/>
                </a:solidFill>
                <a:latin typeface="Calibri"/>
              </a:rPr>
              <a:t>•  Indie-Folk / Chamber Pop  |  80 BPM</a:t>
            </a:r>
          </a:p>
          <a:p>
            <a:pPr>
              <a:lnSpc>
                <a:spcPts val="1820"/>
              </a:lnSpc>
              <a:spcAft>
                <a:spcPts val="800"/>
              </a:spcAft>
            </a:pPr>
            <a:r>
              <a:rPr sz="1300">
                <a:solidFill>
                  <a:srgbClr val="F2F2F2"/>
                </a:solidFill>
                <a:latin typeface="Calibri"/>
              </a:rPr>
              <a:t>•  Nylon guitar, cello, upright bass</a:t>
            </a:r>
          </a:p>
          <a:p>
            <a:pPr>
              <a:lnSpc>
                <a:spcPts val="1820"/>
              </a:lnSpc>
              <a:spcAft>
                <a:spcPts val="800"/>
              </a:spcAft>
            </a:pPr>
            <a:r>
              <a:rPr sz="1300">
                <a:solidFill>
                  <a:srgbClr val="F2F2F2"/>
                </a:solidFill>
                <a:latin typeface="Calibri"/>
              </a:rPr>
              <a:t>•  Original lyrics on hindsight &amp; letting go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457200" y="365760"/>
            <a:ext cx="914400" cy="457200"/>
          </a:xfrm>
          <a:prstGeom prst="rect">
            <a:avLst/>
          </a:prstGeom>
          <a:noFill/>
        </p:spPr>
        <p:txBody>
          <a:bodyPr wrap="square">
            <a:spAutoFit/>
          </a:bodyPr>
          <a:lstStyle/>
          <a:p>
            <a:pPr algn="l">
              <a:lnSpc>
                <a:spcPts val="1560"/>
              </a:lnSpc>
              <a:spcAft>
                <a:spcPts val="400"/>
              </a:spcAft>
            </a:pPr>
            <a:r>
              <a:rPr sz="1200" b="1" i="0">
                <a:solidFill>
                  <a:srgbClr val="4A90D9"/>
                </a:solidFill>
                <a:latin typeface="Calibri"/>
              </a:rPr>
              <a:t>04</a:t>
            </a:r>
          </a:p>
        </p:txBody>
      </p:sp>
      <p:sp>
        <p:nvSpPr>
          <p:cNvPr id="3" name="TextBox 2"/>
          <p:cNvSpPr txBox="1"/>
          <p:nvPr/>
        </p:nvSpPr>
        <p:spPr>
          <a:xfrm>
            <a:off x="731520" y="731520"/>
            <a:ext cx="10698480" cy="731520"/>
          </a:xfrm>
          <a:prstGeom prst="rect">
            <a:avLst/>
          </a:prstGeom>
          <a:noFill/>
        </p:spPr>
        <p:txBody>
          <a:bodyPr wrap="square">
            <a:spAutoFit/>
          </a:bodyPr>
          <a:lstStyle/>
          <a:p>
            <a:pPr algn="l">
              <a:lnSpc>
                <a:spcPts val="4160"/>
              </a:lnSpc>
              <a:spcAft>
                <a:spcPts val="400"/>
              </a:spcAft>
            </a:pPr>
            <a:r>
              <a:rPr sz="3200" b="1" i="0">
                <a:solidFill>
                  <a:srgbClr val="FFFFFF"/>
                </a:solidFill>
                <a:latin typeface="Calibri"/>
              </a:rPr>
              <a:t>Key Finding: Two Copyright Guardrails</a:t>
            </a:r>
          </a:p>
        </p:txBody>
      </p:sp>
      <p:sp>
        <p:nvSpPr>
          <p:cNvPr id="4" name="Rectangle 3"/>
          <p:cNvSpPr/>
          <p:nvPr/>
        </p:nvSpPr>
        <p:spPr>
          <a:xfrm>
            <a:off x="731520" y="1554480"/>
            <a:ext cx="2743200" cy="2540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2103120"/>
            <a:ext cx="4572000" cy="457200"/>
          </a:xfrm>
          <a:prstGeom prst="rect">
            <a:avLst/>
          </a:prstGeom>
          <a:noFill/>
        </p:spPr>
        <p:txBody>
          <a:bodyPr wrap="square">
            <a:spAutoFit/>
          </a:bodyPr>
          <a:lstStyle/>
          <a:p>
            <a:pPr algn="l">
              <a:lnSpc>
                <a:spcPts val="1820"/>
              </a:lnSpc>
              <a:spcAft>
                <a:spcPts val="400"/>
              </a:spcAft>
            </a:pPr>
            <a:r>
              <a:rPr sz="1400" b="1" i="0">
                <a:solidFill>
                  <a:srgbClr val="D48B2C"/>
                </a:solidFill>
                <a:latin typeface="Calibri"/>
              </a:rPr>
              <a:t>GUARDRAIL 1: MELODY</a:t>
            </a:r>
          </a:p>
        </p:txBody>
      </p:sp>
      <p:sp>
        <p:nvSpPr>
          <p:cNvPr id="6" name="TextBox 5"/>
          <p:cNvSpPr txBox="1"/>
          <p:nvPr/>
        </p:nvSpPr>
        <p:spPr>
          <a:xfrm>
            <a:off x="1097280" y="2651760"/>
            <a:ext cx="4572000" cy="914400"/>
          </a:xfrm>
          <a:prstGeom prst="rect">
            <a:avLst/>
          </a:prstGeom>
          <a:noFill/>
        </p:spPr>
        <p:txBody>
          <a:bodyPr wrap="square">
            <a:spAutoFit/>
          </a:bodyPr>
          <a:lstStyle/>
          <a:p>
            <a:pPr algn="l">
              <a:lnSpc>
                <a:spcPts val="2100"/>
              </a:lnSpc>
              <a:spcAft>
                <a:spcPts val="400"/>
              </a:spcAft>
            </a:pPr>
            <a:r>
              <a:rPr sz="1500" b="0" i="0">
                <a:solidFill>
                  <a:srgbClr val="F2F2F2"/>
                </a:solidFill>
                <a:latin typeface="Calibri"/>
              </a:rPr>
              <a:t>Gemini refused to replicate the specific melodic structure of “Let Her Go.” Created an entirely new composition instead.</a:t>
            </a:r>
          </a:p>
        </p:txBody>
      </p:sp>
      <p:sp>
        <p:nvSpPr>
          <p:cNvPr id="7" name="TextBox 6"/>
          <p:cNvSpPr txBox="1"/>
          <p:nvPr/>
        </p:nvSpPr>
        <p:spPr>
          <a:xfrm>
            <a:off x="6583680" y="2103120"/>
            <a:ext cx="4572000" cy="457200"/>
          </a:xfrm>
          <a:prstGeom prst="rect">
            <a:avLst/>
          </a:prstGeom>
          <a:noFill/>
        </p:spPr>
        <p:txBody>
          <a:bodyPr wrap="square">
            <a:spAutoFit/>
          </a:bodyPr>
          <a:lstStyle/>
          <a:p>
            <a:pPr algn="l">
              <a:lnSpc>
                <a:spcPts val="1820"/>
              </a:lnSpc>
              <a:spcAft>
                <a:spcPts val="400"/>
              </a:spcAft>
            </a:pPr>
            <a:r>
              <a:rPr sz="1400" b="1" i="0">
                <a:solidFill>
                  <a:srgbClr val="D48B2C"/>
                </a:solidFill>
                <a:latin typeface="Calibri"/>
              </a:rPr>
              <a:t>GUARDRAIL 2: LYRICS</a:t>
            </a:r>
          </a:p>
        </p:txBody>
      </p:sp>
      <p:sp>
        <p:nvSpPr>
          <p:cNvPr id="8" name="TextBox 7"/>
          <p:cNvSpPr txBox="1"/>
          <p:nvPr/>
        </p:nvSpPr>
        <p:spPr>
          <a:xfrm>
            <a:off x="6583680" y="2651760"/>
            <a:ext cx="4572000" cy="914400"/>
          </a:xfrm>
          <a:prstGeom prst="rect">
            <a:avLst/>
          </a:prstGeom>
          <a:noFill/>
        </p:spPr>
        <p:txBody>
          <a:bodyPr wrap="square">
            <a:spAutoFit/>
          </a:bodyPr>
          <a:lstStyle/>
          <a:p>
            <a:pPr algn="l">
              <a:lnSpc>
                <a:spcPts val="2100"/>
              </a:lnSpc>
              <a:spcAft>
                <a:spcPts val="400"/>
              </a:spcAft>
            </a:pPr>
            <a:r>
              <a:rPr sz="1500" b="0" i="0">
                <a:solidFill>
                  <a:srgbClr val="F2F2F2"/>
                </a:solidFill>
                <a:latin typeface="Calibri"/>
              </a:rPr>
              <a:t>Gemini refused to use Passenger’s copyrighted lyrics. Wrote original lyrics on similar themes instead.</a:t>
            </a:r>
          </a:p>
        </p:txBody>
      </p:sp>
      <p:sp>
        <p:nvSpPr>
          <p:cNvPr id="9" name="TextBox 8"/>
          <p:cNvSpPr txBox="1"/>
          <p:nvPr/>
        </p:nvSpPr>
        <p:spPr>
          <a:xfrm>
            <a:off x="731520" y="4114800"/>
            <a:ext cx="10698480" cy="457200"/>
          </a:xfrm>
          <a:prstGeom prst="rect">
            <a:avLst/>
          </a:prstGeom>
          <a:noFill/>
        </p:spPr>
        <p:txBody>
          <a:bodyPr wrap="square">
            <a:spAutoFit/>
          </a:bodyPr>
          <a:lstStyle/>
          <a:p>
            <a:pPr algn="ctr">
              <a:lnSpc>
                <a:spcPts val="2600"/>
              </a:lnSpc>
              <a:spcAft>
                <a:spcPts val="400"/>
              </a:spcAft>
            </a:pPr>
            <a:r>
              <a:rPr sz="2000" b="1" i="0">
                <a:solidFill>
                  <a:srgbClr val="4A90D9"/>
                </a:solidFill>
                <a:latin typeface="Calibri"/>
              </a:rPr>
              <a:t>But here’s the twist:</a:t>
            </a:r>
          </a:p>
        </p:txBody>
      </p:sp>
      <p:sp>
        <p:nvSpPr>
          <p:cNvPr id="10" name="TextBox 9"/>
          <p:cNvSpPr txBox="1"/>
          <p:nvPr/>
        </p:nvSpPr>
        <p:spPr>
          <a:xfrm>
            <a:off x="1371600" y="4754880"/>
            <a:ext cx="9418320" cy="1371600"/>
          </a:xfrm>
          <a:prstGeom prst="rect">
            <a:avLst/>
          </a:prstGeom>
          <a:noFill/>
        </p:spPr>
        <p:txBody>
          <a:bodyPr wrap="square">
            <a:spAutoFit/>
          </a:bodyPr>
          <a:lstStyle/>
          <a:p>
            <a:pPr algn="ctr">
              <a:lnSpc>
                <a:spcPts val="2700"/>
              </a:lnSpc>
              <a:spcAft>
                <a:spcPts val="400"/>
              </a:spcAft>
            </a:pPr>
            <a:r>
              <a:rPr sz="1800" b="0" i="0">
                <a:solidFill>
                  <a:srgbClr val="FFFFFF"/>
                </a:solidFill>
                <a:latin typeface="Calibri"/>
              </a:rPr>
              <a:t>Both guardrails held  - yet both generated tracks successfully captured the emotional atmosphere, genre feel, and melancholic vibe of the original. Gemini refused to copy the specific expression, but replicated the emotional essence.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457200" y="365760"/>
            <a:ext cx="914400" cy="457200"/>
          </a:xfrm>
          <a:prstGeom prst="rect">
            <a:avLst/>
          </a:prstGeom>
          <a:noFill/>
        </p:spPr>
        <p:txBody>
          <a:bodyPr wrap="square">
            <a:spAutoFit/>
          </a:bodyPr>
          <a:lstStyle/>
          <a:p>
            <a:pPr algn="l">
              <a:lnSpc>
                <a:spcPts val="1560"/>
              </a:lnSpc>
              <a:spcAft>
                <a:spcPts val="400"/>
              </a:spcAft>
            </a:pPr>
            <a:r>
              <a:rPr sz="1200" b="1" i="0">
                <a:solidFill>
                  <a:srgbClr val="4A90D9"/>
                </a:solidFill>
                <a:latin typeface="Calibri"/>
              </a:rPr>
              <a:t>05</a:t>
            </a:r>
          </a:p>
        </p:txBody>
      </p:sp>
      <p:sp>
        <p:nvSpPr>
          <p:cNvPr id="3" name="TextBox 2"/>
          <p:cNvSpPr txBox="1"/>
          <p:nvPr/>
        </p:nvSpPr>
        <p:spPr>
          <a:xfrm>
            <a:off x="731520" y="731520"/>
            <a:ext cx="10698480" cy="731520"/>
          </a:xfrm>
          <a:prstGeom prst="rect">
            <a:avLst/>
          </a:prstGeom>
          <a:noFill/>
        </p:spPr>
        <p:txBody>
          <a:bodyPr wrap="square">
            <a:spAutoFit/>
          </a:bodyPr>
          <a:lstStyle/>
          <a:p>
            <a:pPr algn="l">
              <a:lnSpc>
                <a:spcPts val="4680"/>
              </a:lnSpc>
              <a:spcAft>
                <a:spcPts val="400"/>
              </a:spcAft>
            </a:pPr>
            <a:r>
              <a:rPr sz="3600" b="1" i="0">
                <a:solidFill>
                  <a:srgbClr val="FFFFFF"/>
                </a:solidFill>
                <a:latin typeface="Calibri"/>
              </a:rPr>
              <a:t>Philosophical Reflections</a:t>
            </a:r>
          </a:p>
        </p:txBody>
      </p:sp>
      <p:sp>
        <p:nvSpPr>
          <p:cNvPr id="4" name="Rectangle 3"/>
          <p:cNvSpPr/>
          <p:nvPr/>
        </p:nvSpPr>
        <p:spPr>
          <a:xfrm>
            <a:off x="731520" y="1554480"/>
            <a:ext cx="2743200" cy="2540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011680"/>
            <a:ext cx="10698480" cy="4572000"/>
          </a:xfrm>
          <a:prstGeom prst="rect">
            <a:avLst/>
          </a:prstGeom>
          <a:noFill/>
        </p:spPr>
        <p:txBody>
          <a:bodyPr wrap="square">
            <a:spAutoFit/>
          </a:bodyPr>
          <a:lstStyle/>
          <a:p>
            <a:pPr>
              <a:lnSpc>
                <a:spcPts val="2100"/>
              </a:lnSpc>
              <a:spcAft>
                <a:spcPts val="800"/>
              </a:spcAft>
            </a:pPr>
            <a:r>
              <a:rPr sz="1500" b="1">
                <a:solidFill>
                  <a:srgbClr val="4A90D9"/>
                </a:solidFill>
                <a:latin typeface="Calibri"/>
              </a:rPr>
              <a:t>Process vs. Result (W1):  </a:t>
            </a:r>
            <a:r>
              <a:rPr sz="1500">
                <a:solidFill>
                  <a:srgbClr val="F2F2F2"/>
                </a:solidFill>
                <a:latin typeface="Calibri"/>
              </a:rPr>
              <a:t>A 30-second prompt vs. years of learning guitar. The result sounds professional  - but the creative struggle that gives music its depth was entirely absent.</a:t>
            </a:r>
          </a:p>
          <a:p>
            <a:pPr>
              <a:lnSpc>
                <a:spcPts val="2100"/>
              </a:lnSpc>
              <a:spcAft>
                <a:spcPts val="800"/>
              </a:spcAft>
            </a:pPr>
            <a:r>
              <a:rPr sz="1500" b="1">
                <a:solidFill>
                  <a:srgbClr val="4A90D9"/>
                </a:solidFill>
                <a:latin typeface="Calibri"/>
              </a:rPr>
              <a:t>Three Lenses (W1):  </a:t>
            </a:r>
            <a:r>
              <a:rPr sz="1500">
                <a:solidFill>
                  <a:srgbClr val="F2F2F2"/>
                </a:solidFill>
                <a:latin typeface="Calibri"/>
              </a:rPr>
              <a:t>Philosophical  - no conscious intention behind the music. Economic  - Google profits, training data artists receive nothing. Institutional  - would Spotify accept this as “original”?</a:t>
            </a:r>
          </a:p>
          <a:p>
            <a:pPr>
              <a:lnSpc>
                <a:spcPts val="2100"/>
              </a:lnSpc>
              <a:spcAft>
                <a:spcPts val="800"/>
              </a:spcAft>
            </a:pPr>
            <a:r>
              <a:rPr sz="1500" b="1">
                <a:solidFill>
                  <a:srgbClr val="4A90D9"/>
                </a:solidFill>
                <a:latin typeface="Calibri"/>
              </a:rPr>
              <a:t>Hidden Labour (W3, W4):  </a:t>
            </a:r>
            <a:r>
              <a:rPr sz="1500">
                <a:solidFill>
                  <a:srgbClr val="F2F2F2"/>
                </a:solidFill>
                <a:latin typeface="Calibri"/>
              </a:rPr>
              <a:t>The breathy vocals were learned from real singers’ recordings  - their years of training, their breath, their emotion  - absorbed and anonymised. The same invisibility as Sama’s content moderators behind ChatGPT.</a:t>
            </a:r>
          </a:p>
          <a:p>
            <a:pPr>
              <a:lnSpc>
                <a:spcPts val="2100"/>
              </a:lnSpc>
              <a:spcAft>
                <a:spcPts val="800"/>
              </a:spcAft>
            </a:pPr>
            <a:r>
              <a:rPr sz="1500" b="1">
                <a:solidFill>
                  <a:srgbClr val="4A90D9"/>
                </a:solidFill>
                <a:latin typeface="Calibri"/>
              </a:rPr>
              <a:t>Embodied Perception (W6):  </a:t>
            </a:r>
            <a:r>
              <a:rPr sz="1500">
                <a:solidFill>
                  <a:srgbClr val="F2F2F2"/>
                </a:solidFill>
                <a:latin typeface="Calibri"/>
              </a:rPr>
              <a:t>Merleau-Ponty: music is fundamentally embodied. Gemini simulates the sound of a body singing without possessing one. Pépin: human musicians learn through failure  - Gemini bypassed that entirely.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457200" y="365760"/>
            <a:ext cx="914400" cy="457200"/>
          </a:xfrm>
          <a:prstGeom prst="rect">
            <a:avLst/>
          </a:prstGeom>
          <a:noFill/>
        </p:spPr>
        <p:txBody>
          <a:bodyPr wrap="square">
            <a:spAutoFit/>
          </a:bodyPr>
          <a:lstStyle/>
          <a:p>
            <a:pPr algn="l">
              <a:lnSpc>
                <a:spcPts val="1560"/>
              </a:lnSpc>
              <a:spcAft>
                <a:spcPts val="400"/>
              </a:spcAft>
            </a:pPr>
            <a:r>
              <a:rPr sz="1200" b="1" i="0">
                <a:solidFill>
                  <a:srgbClr val="4A90D9"/>
                </a:solidFill>
                <a:latin typeface="Calibri"/>
              </a:rPr>
              <a:t>06</a:t>
            </a:r>
          </a:p>
        </p:txBody>
      </p:sp>
      <p:sp>
        <p:nvSpPr>
          <p:cNvPr id="3" name="TextBox 2"/>
          <p:cNvSpPr txBox="1"/>
          <p:nvPr/>
        </p:nvSpPr>
        <p:spPr>
          <a:xfrm>
            <a:off x="731520" y="731520"/>
            <a:ext cx="10698480" cy="731520"/>
          </a:xfrm>
          <a:prstGeom prst="rect">
            <a:avLst/>
          </a:prstGeom>
          <a:noFill/>
        </p:spPr>
        <p:txBody>
          <a:bodyPr wrap="square">
            <a:spAutoFit/>
          </a:bodyPr>
          <a:lstStyle/>
          <a:p>
            <a:pPr algn="l">
              <a:lnSpc>
                <a:spcPts val="4680"/>
              </a:lnSpc>
              <a:spcAft>
                <a:spcPts val="400"/>
              </a:spcAft>
            </a:pPr>
            <a:r>
              <a:rPr sz="3600" b="1" i="0">
                <a:solidFill>
                  <a:srgbClr val="FFFFFF"/>
                </a:solidFill>
                <a:latin typeface="Calibri"/>
              </a:rPr>
              <a:t>The Deeper Questions</a:t>
            </a:r>
          </a:p>
        </p:txBody>
      </p:sp>
      <p:sp>
        <p:nvSpPr>
          <p:cNvPr id="4" name="Rectangle 3"/>
          <p:cNvSpPr/>
          <p:nvPr/>
        </p:nvSpPr>
        <p:spPr>
          <a:xfrm>
            <a:off x="731520" y="1554480"/>
            <a:ext cx="2743200" cy="2540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011680"/>
            <a:ext cx="10698480" cy="457200"/>
          </a:xfrm>
          <a:prstGeom prst="rect">
            <a:avLst/>
          </a:prstGeom>
          <a:noFill/>
        </p:spPr>
        <p:txBody>
          <a:bodyPr wrap="square">
            <a:spAutoFit/>
          </a:bodyPr>
          <a:lstStyle/>
          <a:p>
            <a:pPr algn="l">
              <a:lnSpc>
                <a:spcPts val="2340"/>
              </a:lnSpc>
              <a:spcAft>
                <a:spcPts val="400"/>
              </a:spcAft>
            </a:pPr>
            <a:r>
              <a:rPr sz="1800" b="1" i="0">
                <a:solidFill>
                  <a:srgbClr val="4A90D9"/>
                </a:solidFill>
                <a:latin typeface="Calibri"/>
              </a:rPr>
              <a:t>The Slot-Machine Effect (Doctorow, W7)</a:t>
            </a:r>
          </a:p>
        </p:txBody>
      </p:sp>
      <p:sp>
        <p:nvSpPr>
          <p:cNvPr id="6" name="TextBox 5"/>
          <p:cNvSpPr txBox="1"/>
          <p:nvPr/>
        </p:nvSpPr>
        <p:spPr>
          <a:xfrm>
            <a:off x="731520" y="2560320"/>
            <a:ext cx="10698480" cy="1097280"/>
          </a:xfrm>
          <a:prstGeom prst="rect">
            <a:avLst/>
          </a:prstGeom>
          <a:noFill/>
        </p:spPr>
        <p:txBody>
          <a:bodyPr wrap="square">
            <a:spAutoFit/>
          </a:bodyPr>
          <a:lstStyle/>
          <a:p>
            <a:pPr algn="l">
              <a:lnSpc>
                <a:spcPts val="2400"/>
              </a:lnSpc>
              <a:spcAft>
                <a:spcPts val="400"/>
              </a:spcAft>
            </a:pPr>
            <a:r>
              <a:rPr sz="1600" b="0" i="0">
                <a:solidFill>
                  <a:srgbClr val="F2F2F2"/>
                </a:solidFill>
                <a:latin typeface="Calibri"/>
              </a:rPr>
              <a:t>After the first impressive result, my instinct was to pull the lever again: “what if I try the lyrics instead?” The excitement of each generation mirrors the dopamine loop Doctorow warns about. Was I creatively exploring  - or gambling?</a:t>
            </a:r>
          </a:p>
        </p:txBody>
      </p:sp>
      <p:sp>
        <p:nvSpPr>
          <p:cNvPr id="7" name="TextBox 6"/>
          <p:cNvSpPr txBox="1"/>
          <p:nvPr/>
        </p:nvSpPr>
        <p:spPr>
          <a:xfrm>
            <a:off x="731520" y="3931920"/>
            <a:ext cx="10698480" cy="457200"/>
          </a:xfrm>
          <a:prstGeom prst="rect">
            <a:avLst/>
          </a:prstGeom>
          <a:noFill/>
        </p:spPr>
        <p:txBody>
          <a:bodyPr wrap="square">
            <a:spAutoFit/>
          </a:bodyPr>
          <a:lstStyle/>
          <a:p>
            <a:pPr algn="l">
              <a:lnSpc>
                <a:spcPts val="2340"/>
              </a:lnSpc>
              <a:spcAft>
                <a:spcPts val="400"/>
              </a:spcAft>
            </a:pPr>
            <a:r>
              <a:rPr sz="1800" b="1" i="0">
                <a:solidFill>
                  <a:srgbClr val="4A90D9"/>
                </a:solidFill>
                <a:latin typeface="Calibri"/>
              </a:rPr>
              <a:t>Emotions as Engines of Learning (W7)</a:t>
            </a:r>
          </a:p>
        </p:txBody>
      </p:sp>
      <p:sp>
        <p:nvSpPr>
          <p:cNvPr id="8" name="TextBox 7"/>
          <p:cNvSpPr txBox="1"/>
          <p:nvPr/>
        </p:nvSpPr>
        <p:spPr>
          <a:xfrm>
            <a:off x="731520" y="4480560"/>
            <a:ext cx="10698480" cy="1097280"/>
          </a:xfrm>
          <a:prstGeom prst="rect">
            <a:avLst/>
          </a:prstGeom>
          <a:noFill/>
        </p:spPr>
        <p:txBody>
          <a:bodyPr wrap="square">
            <a:spAutoFit/>
          </a:bodyPr>
          <a:lstStyle/>
          <a:p>
            <a:pPr algn="l">
              <a:lnSpc>
                <a:spcPts val="2400"/>
              </a:lnSpc>
              <a:spcAft>
                <a:spcPts val="400"/>
              </a:spcAft>
            </a:pPr>
            <a:r>
              <a:rPr sz="1600" b="0" i="0">
                <a:solidFill>
                  <a:srgbClr val="F2F2F2"/>
                </a:solidFill>
                <a:latin typeface="Calibri"/>
              </a:rPr>
              <a:t>Passenger wrote “Let Her Go” from lived grief and longing. Gemini produces the acoustic markers of sadness  - minor key, slow tempo, breathy vocals  - without feeling anything. If we accept emotionless replication as equivalent to genuine expression, we risk reducing human feeling to a pattern to be optimised.</a:t>
            </a:r>
          </a:p>
        </p:txBody>
      </p:sp>
      <p:sp>
        <p:nvSpPr>
          <p:cNvPr id="9" name="TextBox 8"/>
          <p:cNvSpPr txBox="1"/>
          <p:nvPr/>
        </p:nvSpPr>
        <p:spPr>
          <a:xfrm>
            <a:off x="731520" y="5760720"/>
            <a:ext cx="10698480" cy="731520"/>
          </a:xfrm>
          <a:prstGeom prst="rect">
            <a:avLst/>
          </a:prstGeom>
          <a:noFill/>
        </p:spPr>
        <p:txBody>
          <a:bodyPr wrap="square">
            <a:spAutoFit/>
          </a:bodyPr>
          <a:lstStyle/>
          <a:p>
            <a:pPr algn="l">
              <a:lnSpc>
                <a:spcPts val="1959"/>
              </a:lnSpc>
              <a:spcAft>
                <a:spcPts val="400"/>
              </a:spcAft>
            </a:pPr>
            <a:r>
              <a:rPr sz="1400" b="0" i="1">
                <a:solidFill>
                  <a:srgbClr val="666666"/>
                </a:solidFill>
                <a:latin typeface="Calibri"/>
              </a:rPr>
              <a:t>Whose voices trained the model? Likely YouTube Music’s library  - commercially successful, English-language, Western artists. The same structural bias as W4’s facial recognition datasets.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457200" y="365760"/>
            <a:ext cx="914400" cy="457200"/>
          </a:xfrm>
          <a:prstGeom prst="rect">
            <a:avLst/>
          </a:prstGeom>
          <a:noFill/>
        </p:spPr>
        <p:txBody>
          <a:bodyPr wrap="square">
            <a:spAutoFit/>
          </a:bodyPr>
          <a:lstStyle/>
          <a:p>
            <a:pPr algn="l">
              <a:lnSpc>
                <a:spcPts val="1560"/>
              </a:lnSpc>
              <a:spcAft>
                <a:spcPts val="400"/>
              </a:spcAft>
            </a:pPr>
            <a:r>
              <a:rPr sz="1200" b="1" i="0">
                <a:solidFill>
                  <a:srgbClr val="4A90D9"/>
                </a:solidFill>
                <a:latin typeface="Calibri"/>
              </a:rPr>
              <a:t>07</a:t>
            </a:r>
          </a:p>
        </p:txBody>
      </p:sp>
      <p:sp>
        <p:nvSpPr>
          <p:cNvPr id="3" name="TextBox 2"/>
          <p:cNvSpPr txBox="1"/>
          <p:nvPr/>
        </p:nvSpPr>
        <p:spPr>
          <a:xfrm>
            <a:off x="731520" y="731520"/>
            <a:ext cx="10698480" cy="731520"/>
          </a:xfrm>
          <a:prstGeom prst="rect">
            <a:avLst/>
          </a:prstGeom>
          <a:noFill/>
        </p:spPr>
        <p:txBody>
          <a:bodyPr wrap="square">
            <a:spAutoFit/>
          </a:bodyPr>
          <a:lstStyle/>
          <a:p>
            <a:pPr algn="l">
              <a:lnSpc>
                <a:spcPts val="4680"/>
              </a:lnSpc>
              <a:spcAft>
                <a:spcPts val="400"/>
              </a:spcAft>
            </a:pPr>
            <a:r>
              <a:rPr sz="3600" b="1" i="0">
                <a:solidFill>
                  <a:srgbClr val="FFFFFF"/>
                </a:solidFill>
                <a:latin typeface="Calibri"/>
              </a:rPr>
              <a:t>What Did We Learn?</a:t>
            </a:r>
          </a:p>
        </p:txBody>
      </p:sp>
      <p:sp>
        <p:nvSpPr>
          <p:cNvPr id="4" name="Rectangle 3"/>
          <p:cNvSpPr/>
          <p:nvPr/>
        </p:nvSpPr>
        <p:spPr>
          <a:xfrm>
            <a:off x="731520" y="1554480"/>
            <a:ext cx="2743200" cy="2540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2011680"/>
            <a:ext cx="9966960" cy="2286000"/>
          </a:xfrm>
          <a:prstGeom prst="rect">
            <a:avLst/>
          </a:prstGeom>
          <a:noFill/>
        </p:spPr>
        <p:txBody>
          <a:bodyPr wrap="square">
            <a:spAutoFit/>
          </a:bodyPr>
          <a:lstStyle/>
          <a:p>
            <a:pPr algn="l">
              <a:lnSpc>
                <a:spcPts val="3000"/>
              </a:lnSpc>
              <a:spcAft>
                <a:spcPts val="400"/>
              </a:spcAft>
            </a:pPr>
            <a:r>
              <a:rPr sz="2000" b="0" i="0">
                <a:solidFill>
                  <a:srgbClr val="FFFFFF"/>
                </a:solidFill>
                <a:latin typeface="Calibri"/>
              </a:rPr>
              <a:t>AI can replicate the emotional surface of music with startling fidelity. But this achievement is built on hidden human labour, devoid of embodied experience, and stripped of the creative struggle that gives music its deeper meaning.</a:t>
            </a:r>
          </a:p>
        </p:txBody>
      </p:sp>
      <p:sp>
        <p:nvSpPr>
          <p:cNvPr id="6" name="TextBox 5"/>
          <p:cNvSpPr txBox="1"/>
          <p:nvPr/>
        </p:nvSpPr>
        <p:spPr>
          <a:xfrm>
            <a:off x="1097280" y="4114800"/>
            <a:ext cx="9966960" cy="914400"/>
          </a:xfrm>
          <a:prstGeom prst="rect">
            <a:avLst/>
          </a:prstGeom>
          <a:noFill/>
        </p:spPr>
        <p:txBody>
          <a:bodyPr wrap="square">
            <a:spAutoFit/>
          </a:bodyPr>
          <a:lstStyle/>
          <a:p>
            <a:pPr algn="l">
              <a:lnSpc>
                <a:spcPts val="3079"/>
              </a:lnSpc>
              <a:spcAft>
                <a:spcPts val="400"/>
              </a:spcAft>
            </a:pPr>
            <a:r>
              <a:rPr sz="2200" b="1" i="0">
                <a:solidFill>
                  <a:srgbClr val="4A90D9"/>
                </a:solidFill>
                <a:latin typeface="Calibri"/>
              </a:rPr>
              <a:t>The question is no longer whether AI can make good music.</a:t>
            </a:r>
          </a:p>
        </p:txBody>
      </p:sp>
      <p:sp>
        <p:nvSpPr>
          <p:cNvPr id="7" name="TextBox 6"/>
          <p:cNvSpPr txBox="1"/>
          <p:nvPr/>
        </p:nvSpPr>
        <p:spPr>
          <a:xfrm>
            <a:off x="1097280" y="4846320"/>
            <a:ext cx="9966960" cy="914400"/>
          </a:xfrm>
          <a:prstGeom prst="rect">
            <a:avLst/>
          </a:prstGeom>
          <a:noFill/>
        </p:spPr>
        <p:txBody>
          <a:bodyPr wrap="square">
            <a:spAutoFit/>
          </a:bodyPr>
          <a:lstStyle/>
          <a:p>
            <a:pPr algn="l">
              <a:lnSpc>
                <a:spcPts val="3919"/>
              </a:lnSpc>
              <a:spcAft>
                <a:spcPts val="400"/>
              </a:spcAft>
            </a:pPr>
            <a:r>
              <a:rPr sz="2800" b="1" i="1">
                <a:solidFill>
                  <a:srgbClr val="FFFFFF"/>
                </a:solidFill>
                <a:latin typeface="Calibri"/>
              </a:rPr>
              <a:t>It already can.</a:t>
            </a:r>
          </a:p>
        </p:txBody>
      </p:sp>
      <p:sp>
        <p:nvSpPr>
          <p:cNvPr id="8" name="TextBox 7"/>
          <p:cNvSpPr txBox="1"/>
          <p:nvPr/>
        </p:nvSpPr>
        <p:spPr>
          <a:xfrm>
            <a:off x="1097280" y="5486400"/>
            <a:ext cx="9966960" cy="914400"/>
          </a:xfrm>
          <a:prstGeom prst="rect">
            <a:avLst/>
          </a:prstGeom>
          <a:noFill/>
        </p:spPr>
        <p:txBody>
          <a:bodyPr wrap="square">
            <a:spAutoFit/>
          </a:bodyPr>
          <a:lstStyle/>
          <a:p>
            <a:pPr algn="l">
              <a:lnSpc>
                <a:spcPts val="2550"/>
              </a:lnSpc>
              <a:spcAft>
                <a:spcPts val="400"/>
              </a:spcAft>
            </a:pPr>
            <a:r>
              <a:rPr sz="1700" b="0" i="1">
                <a:solidFill>
                  <a:srgbClr val="F2F2F2"/>
                </a:solidFill>
                <a:latin typeface="Calibri"/>
              </a:rPr>
              <a:t>The question is whether we, as listeners and as a society, will demand authenticity of process  - or whether the result alone will be enough.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F3964"/>
        </a:solidFill>
        <a:effectLst/>
      </p:bgPr>
    </p:bg>
    <p:spTree>
      <p:nvGrpSpPr>
        <p:cNvPr id="1" name=""/>
        <p:cNvGrpSpPr/>
        <p:nvPr/>
      </p:nvGrpSpPr>
      <p:grpSpPr/>
      <p:sp>
        <p:nvSpPr>
          <p:cNvPr id="2" name="TextBox 1"/>
          <p:cNvSpPr txBox="1"/>
          <p:nvPr/>
        </p:nvSpPr>
        <p:spPr>
          <a:xfrm>
            <a:off x="731520" y="1371600"/>
            <a:ext cx="10698480" cy="914400"/>
          </a:xfrm>
          <a:prstGeom prst="rect">
            <a:avLst/>
          </a:prstGeom>
          <a:noFill/>
        </p:spPr>
        <p:txBody>
          <a:bodyPr wrap="square">
            <a:spAutoFit/>
          </a:bodyPr>
          <a:lstStyle/>
          <a:p>
            <a:pPr algn="ctr">
              <a:lnSpc>
                <a:spcPts val="5200"/>
              </a:lnSpc>
              <a:spcAft>
                <a:spcPts val="400"/>
              </a:spcAft>
            </a:pPr>
            <a:r>
              <a:rPr sz="4000" b="1" i="0">
                <a:solidFill>
                  <a:srgbClr val="FFFFFF"/>
                </a:solidFill>
                <a:latin typeface="Calibri"/>
              </a:rPr>
              <a:t>Discussion</a:t>
            </a:r>
          </a:p>
        </p:txBody>
      </p:sp>
      <p:sp>
        <p:nvSpPr>
          <p:cNvPr id="3" name="Rectangle 2"/>
          <p:cNvSpPr/>
          <p:nvPr/>
        </p:nvSpPr>
        <p:spPr>
          <a:xfrm>
            <a:off x="4114800" y="2468880"/>
            <a:ext cx="3931920" cy="2540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0" y="2926080"/>
            <a:ext cx="8503920" cy="914400"/>
          </a:xfrm>
          <a:prstGeom prst="rect">
            <a:avLst/>
          </a:prstGeom>
          <a:noFill/>
        </p:spPr>
        <p:txBody>
          <a:bodyPr wrap="square">
            <a:spAutoFit/>
          </a:bodyPr>
          <a:lstStyle/>
          <a:p>
            <a:pPr algn="ctr">
              <a:lnSpc>
                <a:spcPts val="3300"/>
              </a:lnSpc>
              <a:spcAft>
                <a:spcPts val="400"/>
              </a:spcAft>
            </a:pPr>
            <a:r>
              <a:rPr sz="2200" b="0" i="1">
                <a:solidFill>
                  <a:srgbClr val="4A90D9"/>
                </a:solidFill>
                <a:latin typeface="Calibri"/>
              </a:rPr>
              <a:t>If you couldn’t tell whether a song was made by a human or AI,
would the answer change how it makes you feel?</a:t>
            </a:r>
          </a:p>
        </p:txBody>
      </p:sp>
      <p:sp>
        <p:nvSpPr>
          <p:cNvPr id="5" name="TextBox 4"/>
          <p:cNvSpPr txBox="1"/>
          <p:nvPr/>
        </p:nvSpPr>
        <p:spPr>
          <a:xfrm>
            <a:off x="1828800" y="4572000"/>
            <a:ext cx="8503920" cy="914400"/>
          </a:xfrm>
          <a:prstGeom prst="rect">
            <a:avLst/>
          </a:prstGeom>
          <a:noFill/>
        </p:spPr>
        <p:txBody>
          <a:bodyPr wrap="square">
            <a:spAutoFit/>
          </a:bodyPr>
          <a:lstStyle/>
          <a:p>
            <a:pPr algn="ctr">
              <a:lnSpc>
                <a:spcPts val="2340"/>
              </a:lnSpc>
              <a:spcAft>
                <a:spcPts val="400"/>
              </a:spcAft>
            </a:pPr>
            <a:r>
              <a:rPr sz="1800" b="0" i="0">
                <a:solidFill>
                  <a:srgbClr val="F2F2F2"/>
                </a:solidFill>
                <a:latin typeface="Calibri"/>
              </a:rPr>
              <a:t>Let’s listen to the tracks and discuss.</a:t>
            </a:r>
          </a:p>
        </p:txBody>
      </p:sp>
      <p:sp>
        <p:nvSpPr>
          <p:cNvPr id="6" name="TextBox 5"/>
          <p:cNvSpPr txBox="1"/>
          <p:nvPr/>
        </p:nvSpPr>
        <p:spPr>
          <a:xfrm>
            <a:off x="1828800" y="5669280"/>
            <a:ext cx="8503920" cy="457200"/>
          </a:xfrm>
          <a:prstGeom prst="rect">
            <a:avLst/>
          </a:prstGeom>
          <a:noFill/>
        </p:spPr>
        <p:txBody>
          <a:bodyPr wrap="square">
            <a:spAutoFit/>
          </a:bodyPr>
          <a:lstStyle/>
          <a:p>
            <a:pPr algn="ctr">
              <a:lnSpc>
                <a:spcPts val="1690"/>
              </a:lnSpc>
              <a:spcAft>
                <a:spcPts val="400"/>
              </a:spcAft>
            </a:pPr>
            <a:r>
              <a:rPr sz="1300" b="0" i="0">
                <a:solidFill>
                  <a:srgbClr val="666666"/>
                </a:solidFill>
                <a:latin typeface="Calibri"/>
              </a:rPr>
              <a:t>Elias Schwegler  |  PHKI FS26  |  HSLU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